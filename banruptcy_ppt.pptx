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322" r:id="rId5"/>
    <p:sldId id="324" r:id="rId6"/>
    <p:sldId id="345" r:id="rId7"/>
    <p:sldId id="344" r:id="rId8"/>
    <p:sldId id="325" r:id="rId9"/>
    <p:sldId id="326" r:id="rId10"/>
    <p:sldId id="348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336" r:id="rId21"/>
    <p:sldId id="337" r:id="rId22"/>
    <p:sldId id="338" r:id="rId23"/>
    <p:sldId id="339" r:id="rId24"/>
    <p:sldId id="340" r:id="rId25"/>
    <p:sldId id="341" r:id="rId26"/>
    <p:sldId id="342" r:id="rId27"/>
    <p:sldId id="343" r:id="rId28"/>
    <p:sldId id="346" r:id="rId29"/>
    <p:sldId id="347" r:id="rId30"/>
    <p:sldId id="31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F4E42A-052B-BBDA-EBED-041A9EAD2D0A}" v="2" dt="2025-07-23T09:24:51.794"/>
    <p1510:client id="{C1C028A2-F88C-F432-DACB-D2D1C50A9FE0}" v="2" dt="2025-07-23T09:29:07.087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7/23/2025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7/23/2025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rPr lang="en-US" dirty="0"/>
              <a:t>Bankruptcy</a:t>
            </a:r>
            <a:br>
              <a:rPr lang="en-US" dirty="0"/>
            </a:br>
            <a:r>
              <a:rPr lang="en-US" dirty="0"/>
              <a:t>Prevention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C5DE-3C0F-AB26-FEAE-AA7E07ECB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1179871"/>
            <a:ext cx="4640418" cy="4964335"/>
          </a:xfrm>
        </p:spPr>
        <p:txBody>
          <a:bodyPr/>
          <a:lstStyle/>
          <a:p>
            <a:r>
              <a:rPr lang="en-IN" b="1" dirty="0"/>
              <a:t>Mentor Name</a:t>
            </a:r>
            <a:br>
              <a:rPr lang="en-IN" b="1" dirty="0"/>
            </a:br>
            <a:br>
              <a:rPr lang="en-IN" dirty="0"/>
            </a:br>
            <a:r>
              <a:rPr lang="en-IN" dirty="0">
                <a:ea typeface="+mj-lt"/>
                <a:cs typeface="+mj-lt"/>
              </a:rPr>
              <a:t>Sravani</a:t>
            </a:r>
            <a:endParaRPr lang="en-IN" sz="2400" dirty="0" err="1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20445-8129-923A-D6E1-16ACD9705B0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26111" y="2878383"/>
            <a:ext cx="4849812" cy="3391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b="1" dirty="0">
                <a:latin typeface="+mj-lt"/>
              </a:rPr>
              <a:t>Group – 6 Members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400" dirty="0"/>
              <a:t>G. Mohammed Amir Suhel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400" dirty="0"/>
              <a:t>Bandi Manoj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400" dirty="0"/>
              <a:t>Abhinav Cheekurthi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400" dirty="0"/>
              <a:t>Sandhya.D.N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400" dirty="0"/>
              <a:t>Srinivasu Murali Kantamneni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E62D9-F229-A1E7-B900-DAB9602FC0D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49FB15-DC25-7EC5-42D1-3E12B5632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583" y="865239"/>
            <a:ext cx="2979174" cy="17796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835352-7C3A-E52A-2F3F-97827E35A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529" y="737115"/>
            <a:ext cx="2458322" cy="214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74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483E1-F574-2C80-9938-C5D052887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6"/>
            <a:ext cx="4640418" cy="688562"/>
          </a:xfrm>
        </p:spPr>
        <p:txBody>
          <a:bodyPr/>
          <a:lstStyle/>
          <a:p>
            <a:r>
              <a:rPr lang="en-US" b="1" dirty="0"/>
              <a:t>Agenda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D4AD0-893F-CBEF-3FA9-F55278ABAA8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231923" y="1425678"/>
            <a:ext cx="8606250" cy="4718528"/>
          </a:xfrm>
        </p:spPr>
        <p:txBody>
          <a:bodyPr>
            <a:normAutofit/>
          </a:bodyPr>
          <a:lstStyle/>
          <a:p>
            <a:r>
              <a:rPr lang="en-US" sz="1800" dirty="0"/>
              <a:t>Objective</a:t>
            </a:r>
          </a:p>
          <a:p>
            <a:r>
              <a:rPr lang="en-US" sz="1800" dirty="0"/>
              <a:t>Dataset Details</a:t>
            </a:r>
          </a:p>
          <a:p>
            <a:r>
              <a:rPr lang="en-US" sz="1800" dirty="0"/>
              <a:t>Exploratory Data Analysis</a:t>
            </a:r>
          </a:p>
          <a:p>
            <a:r>
              <a:rPr lang="en-US" sz="1800" dirty="0"/>
              <a:t>Model Building</a:t>
            </a:r>
          </a:p>
          <a:p>
            <a:r>
              <a:rPr lang="en-US" sz="1800" dirty="0"/>
              <a:t>Model Evaluation</a:t>
            </a:r>
          </a:p>
          <a:p>
            <a:r>
              <a:rPr lang="en-US" sz="1800" dirty="0"/>
              <a:t>Deployment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9F704-CF5F-E188-2E50-CDAA522714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B34045-9FCE-EF81-AD3C-A6CA7B107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7638" y="156087"/>
            <a:ext cx="2644877" cy="253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28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08E83-6BF4-C30C-A5BB-A6AA387A5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9382590" cy="718059"/>
          </a:xfrm>
        </p:spPr>
        <p:txBody>
          <a:bodyPr/>
          <a:lstStyle/>
          <a:p>
            <a:r>
              <a:rPr lang="en-US" b="1" dirty="0"/>
              <a:t>Objective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67B31-01A7-5DFF-5543-960E7A9E016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5583" y="1455174"/>
            <a:ext cx="9382590" cy="46890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Objective: </a:t>
            </a:r>
            <a:r>
              <a:rPr lang="en-US" sz="1800" dirty="0"/>
              <a:t>Predict the likelihood of bankruptcy in companies using historical data.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Importance</a:t>
            </a:r>
            <a:r>
              <a:rPr lang="en-US" sz="1800" dirty="0"/>
              <a:t>: Helps in early detection of financial distress to prevent sudden business failures.</a:t>
            </a:r>
          </a:p>
          <a:p>
            <a:pPr marL="0" indent="0">
              <a:buNone/>
            </a:pPr>
            <a:r>
              <a:rPr lang="en-US" sz="1800" b="1" dirty="0"/>
              <a:t>Method: </a:t>
            </a:r>
            <a:r>
              <a:rPr lang="en-US" sz="1800" dirty="0"/>
              <a:t>Utilizes machine learning algorithms for classification and risk prediction.</a:t>
            </a:r>
          </a:p>
          <a:p>
            <a:pPr marL="0" indent="0">
              <a:buNone/>
            </a:pPr>
            <a:r>
              <a:rPr lang="en-US" sz="1800" b="1" dirty="0"/>
              <a:t>Data Scope: </a:t>
            </a:r>
            <a:r>
              <a:rPr lang="en-US" sz="1800" dirty="0"/>
              <a:t>Financial ratios, operational indicators, and historical company performance data.</a:t>
            </a:r>
          </a:p>
          <a:p>
            <a:pPr marL="0" indent="0">
              <a:buNone/>
            </a:pPr>
            <a:r>
              <a:rPr lang="en-US" sz="1800" b="1" dirty="0"/>
              <a:t>Outcome: </a:t>
            </a:r>
            <a:r>
              <a:rPr lang="en-US" sz="1800" dirty="0"/>
              <a:t>A predictive model that aids in credit risk assessment and decision-making.	</a:t>
            </a:r>
          </a:p>
          <a:p>
            <a:pPr marL="0" indent="0">
              <a:buNone/>
            </a:pPr>
            <a:r>
              <a:rPr lang="en-US" sz="1800" b="1" dirty="0"/>
              <a:t>Impact: </a:t>
            </a:r>
            <a:r>
              <a:rPr lang="en-US" sz="1800" dirty="0"/>
              <a:t>Enables businesses and financial institutions to take timely preventive measures.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FD36E-DF11-D175-A405-C89E4EAA54F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239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9B73-B080-F554-C802-D19727513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579800"/>
            <a:ext cx="4640418" cy="659066"/>
          </a:xfrm>
        </p:spPr>
        <p:txBody>
          <a:bodyPr/>
          <a:lstStyle/>
          <a:p>
            <a:r>
              <a:rPr lang="en-IN" b="1" dirty="0"/>
              <a:t>Dataset Details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52E5E44-6243-E9AF-BFCD-15D03AEA5F9B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750096074"/>
              </p:ext>
            </p:extLst>
          </p:nvPr>
        </p:nvGraphicFramePr>
        <p:xfrm>
          <a:off x="1544482" y="1552677"/>
          <a:ext cx="10235382" cy="4968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2783">
                  <a:extLst>
                    <a:ext uri="{9D8B030D-6E8A-4147-A177-3AD203B41FA5}">
                      <a16:colId xmlns:a16="http://schemas.microsoft.com/office/drawing/2014/main" val="2527013618"/>
                    </a:ext>
                  </a:extLst>
                </a:gridCol>
                <a:gridCol w="4218038">
                  <a:extLst>
                    <a:ext uri="{9D8B030D-6E8A-4147-A177-3AD203B41FA5}">
                      <a16:colId xmlns:a16="http://schemas.microsoft.com/office/drawing/2014/main" val="91764431"/>
                    </a:ext>
                  </a:extLst>
                </a:gridCol>
                <a:gridCol w="3884561">
                  <a:extLst>
                    <a:ext uri="{9D8B030D-6E8A-4147-A177-3AD203B41FA5}">
                      <a16:colId xmlns:a16="http://schemas.microsoft.com/office/drawing/2014/main" val="1499716105"/>
                    </a:ext>
                  </a:extLst>
                </a:gridCol>
              </a:tblGrid>
              <a:tr h="609717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Feature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Possible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239563"/>
                  </a:ext>
                </a:extLst>
              </a:tr>
              <a:tr h="609717">
                <a:tc>
                  <a:txBody>
                    <a:bodyPr/>
                    <a:lstStyle/>
                    <a:p>
                      <a:r>
                        <a:rPr lang="en-IN" dirty="0"/>
                        <a:t>industrial_risk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Risk from industrial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= Low, 0.5 = Medium, 1 = 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146452"/>
                  </a:ext>
                </a:extLst>
              </a:tr>
              <a:tr h="609717">
                <a:tc>
                  <a:txBody>
                    <a:bodyPr/>
                    <a:lstStyle/>
                    <a:p>
                      <a:r>
                        <a:rPr lang="en-IN" dirty="0"/>
                        <a:t>management_risk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Risk from poor management practices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= Low, 0.5 = Medium, 1 = 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664202"/>
                  </a:ext>
                </a:extLst>
              </a:tr>
              <a:tr h="609717">
                <a:tc>
                  <a:txBody>
                    <a:bodyPr/>
                    <a:lstStyle/>
                    <a:p>
                      <a:r>
                        <a:rPr lang="en-IN" dirty="0"/>
                        <a:t>financial_flexibility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Ability to manage finances during uncertainty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= Low, 0.5 = Medium, 1 = 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401073"/>
                  </a:ext>
                </a:extLst>
              </a:tr>
              <a:tr h="609717">
                <a:tc>
                  <a:txBody>
                    <a:bodyPr/>
                    <a:lstStyle/>
                    <a:p>
                      <a:r>
                        <a:rPr lang="en-IN" dirty="0"/>
                        <a:t>credibility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Company’s creditworthiness or reputation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= Low, 0.5 = Medium, 1 = 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121023"/>
                  </a:ext>
                </a:extLst>
              </a:tr>
              <a:tr h="609717">
                <a:tc>
                  <a:txBody>
                    <a:bodyPr/>
                    <a:lstStyle/>
                    <a:p>
                      <a:r>
                        <a:rPr lang="en-IN" dirty="0"/>
                        <a:t>competitiveness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Firm’s position in the market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= Low, 0.5 = Medium, 1 = 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225290"/>
                  </a:ext>
                </a:extLst>
              </a:tr>
              <a:tr h="6097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operating_risk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Day-to-day business risk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 = Low, 0.5 = Medium, 1 = High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93501"/>
                  </a:ext>
                </a:extLst>
              </a:tr>
              <a:tr h="609717">
                <a:tc>
                  <a:txBody>
                    <a:bodyPr/>
                    <a:lstStyle/>
                    <a:p>
                      <a:r>
                        <a:rPr lang="en-IN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the target or label in the dataset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 = Non-bankruptcy, 1 = bankruptcy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1689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D37F1-D626-A195-F588-7E569E728B2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247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3DD37-7BF0-4F4D-1F9F-26C1D90B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2" y="737116"/>
            <a:ext cx="8612649" cy="836045"/>
          </a:xfrm>
        </p:spPr>
        <p:txBody>
          <a:bodyPr/>
          <a:lstStyle/>
          <a:p>
            <a:r>
              <a:rPr lang="en-IN" b="1" dirty="0"/>
              <a:t>Exploratory Data Analysis (EDA)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6A831-5BE2-1CF2-15D3-746E3D4D452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119" y="1725258"/>
            <a:ext cx="9382591" cy="21978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📊 </a:t>
            </a:r>
            <a:r>
              <a:rPr lang="en-IN" sz="2400" b="1" dirty="0"/>
              <a:t>Class Distribution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Understanding the distribution of the target variable is crucial before training any model.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The target column class indicates whether a company is at risk of bankruptcy or not.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A count plot was used to visualize the frequency of each class.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This helps identify if the data is balanced or imbalanced, which can impact model performance.</a:t>
            </a:r>
          </a:p>
          <a:p>
            <a:pPr marL="0" indent="0">
              <a:buNone/>
            </a:pPr>
            <a:endParaRPr lang="en-IN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4FE4D-762C-6FEC-5878-4D5502B86F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3D431B-64E4-231F-750C-6DF786BCC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322" y="3429000"/>
            <a:ext cx="5019639" cy="316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336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504833-497A-DC27-4B6E-28C0E68C36E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297858" y="688258"/>
            <a:ext cx="9832258" cy="525534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0F53F-C802-67E9-7D8F-A12B180E94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347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E7589-45FA-A22F-3B37-63CAF20BA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884" y="579800"/>
            <a:ext cx="10245213" cy="65191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Feature Distribution by Class (Box Plot Analysis)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70E32-0840-BA43-58B3-395CF662B17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DB3880-C2BC-7569-B207-85A2A650E9FB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1381125" y="1622048"/>
            <a:ext cx="1024521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Box plots were created for each feature against the target variable class to analyze feature-wise distribution.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Purpose: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observe how feature values differ between bankrupt and non-bankrupt companies.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detect outliers, range, and median shifts across classes.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Observations: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Some features show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clear separation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between the two classes.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Others show overlapping distributions.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analysis reveals which features are potentially more informative for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Conclusion: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Features with better separation can be strong predictors for model building.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Box plots also help in identifying outliers, which may need to be treated during preprocessing.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71043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577AD2-5C26-5B6C-CB06-140AA32823A6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838848" y="628023"/>
            <a:ext cx="9144000" cy="531557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06188-08CE-F555-FB62-2275BE7207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769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189D9-4A53-D31A-B5D2-B51900D37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648930"/>
            <a:ext cx="7560598" cy="64892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Correlation Heatmap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89900-E143-4FA5-0967-10061FF1834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5583" y="1111045"/>
            <a:ext cx="4706143" cy="5240594"/>
          </a:xfrm>
        </p:spPr>
        <p:txBody>
          <a:bodyPr>
            <a:normAutofit/>
          </a:bodyPr>
          <a:lstStyle/>
          <a:p>
            <a:r>
              <a:rPr lang="en-US" sz="1800" dirty="0"/>
              <a:t>Competitiveness has strongest link to bankruptcy risk (-0.9)</a:t>
            </a:r>
          </a:p>
          <a:p>
            <a:r>
              <a:rPr lang="en-US" sz="1800" dirty="0"/>
              <a:t>Financial flexibility &amp; credibility also strongly related to outcome (-0.75/-0.76)</a:t>
            </a:r>
          </a:p>
          <a:p>
            <a:r>
              <a:rPr lang="en-US" sz="1800" dirty="0"/>
              <a:t>Management risk shows moderate positive correlation (0.37)</a:t>
            </a:r>
          </a:p>
          <a:p>
            <a:r>
              <a:rPr lang="en-US" sz="1800" dirty="0"/>
              <a:t>Industrial risk has weakest relationship (-0.014)</a:t>
            </a:r>
          </a:p>
          <a:p>
            <a:r>
              <a:rPr lang="en-US" sz="1800" dirty="0"/>
              <a:t>High correlation between some features (e.g., financial flexibility &amp; credibility: 0.52) may cause multicollinearity</a:t>
            </a:r>
          </a:p>
          <a:p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5BAAE-AC69-2683-BC66-B385A95825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18AC59-6B4A-B3EA-9BCD-E8991B42E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755" y="1111045"/>
            <a:ext cx="4706142" cy="470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8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11471-3E90-03D3-F73B-A25E6E61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718059"/>
          </a:xfrm>
        </p:spPr>
        <p:txBody>
          <a:bodyPr/>
          <a:lstStyle/>
          <a:p>
            <a:r>
              <a:rPr lang="en-IN" b="1" dirty="0"/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60A6-52A0-7484-B490-1B56791852B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119" y="1592826"/>
            <a:ext cx="9545544" cy="45280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1. Logistic Regression</a:t>
            </a:r>
          </a:p>
          <a:p>
            <a:r>
              <a:rPr lang="en-US" sz="1800" dirty="0"/>
              <a:t>A statistical linear model used for binary classification.</a:t>
            </a:r>
          </a:p>
          <a:p>
            <a:r>
              <a:rPr lang="en-US" sz="1800" dirty="0"/>
              <a:t>Assumes a linear relationship between input features and the log-odds of the target class.</a:t>
            </a:r>
          </a:p>
          <a:p>
            <a:r>
              <a:rPr lang="en-US" sz="1800" dirty="0"/>
              <a:t>Useful as a baseline model due to its simplicity and interpretability.</a:t>
            </a:r>
          </a:p>
          <a:p>
            <a:r>
              <a:rPr lang="en-US" sz="1800" dirty="0"/>
              <a:t>Achieved 100% accuracy on test data.</a:t>
            </a:r>
          </a:p>
          <a:p>
            <a:r>
              <a:rPr lang="en-US" sz="1800" dirty="0"/>
              <a:t>Performed exceptionally well with perfect precision and recall.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Accuracy: 100%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Precision: 1.00 (for both classes)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Recall: 1.00 (for both classes)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F1-Score: 1.00 (for both classes)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Support: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/>
              <a:t>	Class 0 (Non-Bankruptcy): 29</a:t>
            </a:r>
          </a:p>
          <a:p>
            <a:pPr marL="914400" lvl="2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/>
              <a:t>	Class 1 (Bankruptcy): 21</a:t>
            </a:r>
          </a:p>
          <a:p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1329F-2B2D-B003-16B0-C3439705390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573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31F5-0C1D-4C8B-C2E3-509F537BB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629569"/>
          </a:xfrm>
        </p:spPr>
        <p:txBody>
          <a:bodyPr/>
          <a:lstStyle/>
          <a:p>
            <a:r>
              <a:rPr lang="en-IN" b="1" dirty="0"/>
              <a:t>SVM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06ECC-851C-06E8-278E-5A736B50C6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50EC8A4-F983-995F-78A8-C927B73206CE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1455738" y="1770073"/>
            <a:ext cx="995951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SVM achieved 100% accuracy on test data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Both classes (0 and 1) were predicted perfectly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Precision, Recall, and F1-Score are all 1.00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false positives or false negatives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SVM is effective for binary classification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Performs well in high-dimensional spaces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Suitable for well-separated class boundaries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Accuracy: 100%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Precision: 1.00 (for both classes)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 Recall: 1.00 (for both classes)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 F1-Score: 1.00 (for both classes)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 Support: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/>
              <a:t>	Class 0 (Non-Bankruptcy): 29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/>
              <a:t>	Class 1 (Bankruptcy): 21</a:t>
            </a:r>
          </a:p>
        </p:txBody>
      </p:sp>
    </p:spTree>
    <p:extLst>
      <p:ext uri="{BB962C8B-B14F-4D97-AF65-F5344CB8AC3E}">
        <p14:creationId xmlns:p14="http://schemas.microsoft.com/office/powerpoint/2010/main" val="1356065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33B39-F26C-F7D5-0446-A04100788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6"/>
            <a:ext cx="4640418" cy="668898"/>
          </a:xfrm>
        </p:spPr>
        <p:txBody>
          <a:bodyPr/>
          <a:lstStyle/>
          <a:p>
            <a:r>
              <a:rPr lang="en-IN" b="1" dirty="0"/>
              <a:t>Random Forest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759F4-8F94-22CE-BE88-6791CD5DFEE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740FD15-1DBC-49CD-0BE2-DB6E525BF72E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1455583" y="1482959"/>
            <a:ext cx="938259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Achieved perfect classification performance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Very effective in handling both classes equally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overfitting observed despite being an ensemble method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Robust to noise and irrelevant features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Excellent at capturing non-linear patterns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 importance can be extracted for interpretation</a:t>
            </a:r>
            <a:endParaRPr lang="en-US" altLang="en-US" sz="18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Accuracy: 100%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Precision: 1.00 (for both classes)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Recall: 1.00 (for both classes)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F1-Score: 1.00 (for both classes)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Support:</a:t>
            </a:r>
          </a:p>
          <a:p>
            <a:pPr marL="0" indent="0">
              <a:buNone/>
            </a:pPr>
            <a:r>
              <a:rPr lang="en-US" sz="1800" dirty="0"/>
              <a:t>	Class 0 (Non-Bankruptcy): 29</a:t>
            </a:r>
          </a:p>
          <a:p>
            <a:pPr marL="0" indent="0">
              <a:buNone/>
            </a:pPr>
            <a:r>
              <a:rPr lang="en-US" sz="1800" dirty="0"/>
              <a:t>	Class 1 (Bankruptcy): 21</a:t>
            </a:r>
          </a:p>
        </p:txBody>
      </p:sp>
    </p:spTree>
    <p:extLst>
      <p:ext uri="{BB962C8B-B14F-4D97-AF65-F5344CB8AC3E}">
        <p14:creationId xmlns:p14="http://schemas.microsoft.com/office/powerpoint/2010/main" val="3143704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10F7C-6D8B-5570-11BD-AE87D78F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491917"/>
          </a:xfrm>
        </p:spPr>
        <p:txBody>
          <a:bodyPr>
            <a:noAutofit/>
          </a:bodyPr>
          <a:lstStyle/>
          <a:p>
            <a:r>
              <a:rPr lang="en-IN" b="1" dirty="0"/>
              <a:t>XGBoost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4DE80-906B-E427-E88E-01E2D960F9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77DED0D-14DF-2E49-B5FE-017BFF626DE1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1646287" y="1228993"/>
            <a:ext cx="9729635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overall accuracy of 98%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Slightly lower precision for Class 1 (0.95) indicating a few false positives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Perfect recall for Class 1 (1.00), no actual bankruptcies missed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Very effective gradient boosting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Balances bias and variance well with regularization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Suitable for complex patterns with good generalization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Accuracy: 98%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Precision: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/>
              <a:t>	Class 0: 1.00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/>
              <a:t>	Class 1: 0.95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Recall: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/>
              <a:t>	Class 0: 0.97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/>
              <a:t>	Class 1: 1.00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F1-Score: 0.98 (for both classes)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/>
              <a:t>Support: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/>
              <a:t>	Class 0 (Non-Bankruptcy): 29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/>
              <a:t>	Class 1 (Bankruptcy): 21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84967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74D1-4475-2CC9-36C9-ACDE79F6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6"/>
            <a:ext cx="6351230" cy="1042524"/>
          </a:xfrm>
        </p:spPr>
        <p:txBody>
          <a:bodyPr>
            <a:noAutofit/>
          </a:bodyPr>
          <a:lstStyle/>
          <a:p>
            <a:r>
              <a:rPr lang="en-IN" b="1" dirty="0"/>
              <a:t>Model Evolution Journey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A79CC30-9DBF-FA44-2EC0-77C6B7F6149E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008666797"/>
              </p:ext>
            </p:extLst>
          </p:nvPr>
        </p:nvGraphicFramePr>
        <p:xfrm>
          <a:off x="2071738" y="2368755"/>
          <a:ext cx="9068210" cy="27894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9546">
                  <a:extLst>
                    <a:ext uri="{9D8B030D-6E8A-4147-A177-3AD203B41FA5}">
                      <a16:colId xmlns:a16="http://schemas.microsoft.com/office/drawing/2014/main" val="3256629826"/>
                    </a:ext>
                  </a:extLst>
                </a:gridCol>
                <a:gridCol w="4618664">
                  <a:extLst>
                    <a:ext uri="{9D8B030D-6E8A-4147-A177-3AD203B41FA5}">
                      <a16:colId xmlns:a16="http://schemas.microsoft.com/office/drawing/2014/main" val="53986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Model Tried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Reason for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823155"/>
                  </a:ext>
                </a:extLst>
              </a:tr>
              <a:tr h="514882"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Simple, interpretable, baseline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776818"/>
                  </a:ext>
                </a:extLst>
              </a:tr>
              <a:tr h="521110">
                <a:tc>
                  <a:txBody>
                    <a:bodyPr/>
                    <a:lstStyle/>
                    <a:p>
                      <a:r>
                        <a:rPr lang="en-IN" dirty="0"/>
                        <a:t>Support Vector Machine (SVM)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for binary classification problems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688630"/>
                  </a:ext>
                </a:extLst>
              </a:tr>
              <a:tr h="742500">
                <a:tc>
                  <a:txBody>
                    <a:bodyPr/>
                    <a:lstStyle/>
                    <a:p>
                      <a:r>
                        <a:rPr lang="en-IN" dirty="0"/>
                        <a:t>Random Forest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Handles non-linearity, reduces overfitting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98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XGBoost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High performance, works well with tabular data 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8276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AD551-4A44-10F9-5FCA-63BEC96D74E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408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23A9-8F75-9245-A083-C4A27719D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2" y="737115"/>
            <a:ext cx="6705191" cy="1170343"/>
          </a:xfrm>
        </p:spPr>
        <p:txBody>
          <a:bodyPr/>
          <a:lstStyle/>
          <a:p>
            <a:r>
              <a:rPr lang="en-IN" b="1" dirty="0"/>
              <a:t>Performance Comparison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B9DAA18-BDC7-76D1-FE10-E3C1204AE1D8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691748541"/>
              </p:ext>
            </p:extLst>
          </p:nvPr>
        </p:nvGraphicFramePr>
        <p:xfrm>
          <a:off x="1773289" y="2501900"/>
          <a:ext cx="8645421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4997">
                  <a:extLst>
                    <a:ext uri="{9D8B030D-6E8A-4147-A177-3AD203B41FA5}">
                      <a16:colId xmlns:a16="http://schemas.microsoft.com/office/drawing/2014/main" val="1576867010"/>
                    </a:ext>
                  </a:extLst>
                </a:gridCol>
                <a:gridCol w="2368617">
                  <a:extLst>
                    <a:ext uri="{9D8B030D-6E8A-4147-A177-3AD203B41FA5}">
                      <a16:colId xmlns:a16="http://schemas.microsoft.com/office/drawing/2014/main" val="251184494"/>
                    </a:ext>
                  </a:extLst>
                </a:gridCol>
                <a:gridCol w="2881807">
                  <a:extLst>
                    <a:ext uri="{9D8B030D-6E8A-4147-A177-3AD203B41FA5}">
                      <a16:colId xmlns:a16="http://schemas.microsoft.com/office/drawing/2014/main" val="3211344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Model Tried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Cross-Validation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323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99.60%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435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Support Vector Machine (SVM)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99.60%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16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 Forest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99.60%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490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XGBoost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99.60%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40163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305DC-0115-726D-AA57-DB0B8819F2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50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9F38A-9551-F586-5EF9-1A2DE6116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2" y="737115"/>
            <a:ext cx="9133759" cy="1081853"/>
          </a:xfrm>
        </p:spPr>
        <p:txBody>
          <a:bodyPr>
            <a:normAutofit/>
          </a:bodyPr>
          <a:lstStyle/>
          <a:p>
            <a:r>
              <a:rPr lang="en-IN" b="1" dirty="0"/>
              <a:t>Why Finalize Logistic Regression?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17D8B-7A0E-0F5C-851F-A8D76E7EB0B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5582" y="1818968"/>
            <a:ext cx="9382591" cy="4325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1️⃣ Interpretability: Financial institutions prefer explainable models for risk    prediction. Logistic Regression provides clear coefficients &amp; probabilities.</a:t>
            </a:r>
          </a:p>
          <a:p>
            <a:pPr marL="0" indent="0">
              <a:buNone/>
            </a:pPr>
            <a:r>
              <a:rPr lang="en-IN" sz="1800" dirty="0"/>
              <a:t>2️⃣ Simplicity: Less prone to overfitting with small datasets. Easy to deploy &amp; maintain.</a:t>
            </a:r>
          </a:p>
          <a:p>
            <a:pPr marL="0" indent="0">
              <a:buNone/>
            </a:pPr>
            <a:r>
              <a:rPr lang="en-IN" sz="1800" dirty="0"/>
              <a:t>3️⃣ Comparable Accuracy: Achieved the same accuracy as complex models like Random Forest &amp; SVM.</a:t>
            </a:r>
          </a:p>
          <a:p>
            <a:pPr marL="0" indent="0">
              <a:buNone/>
            </a:pPr>
            <a:r>
              <a:rPr lang="en-IN" sz="1800" dirty="0"/>
              <a:t>4️⃣ Business Use-Case Fit: Ideal for use in financial risk assessment due to transparency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42D09-0938-9948-56E5-09C9D6560B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149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7C8A-E7CE-3E53-B5C2-CC2781595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9382590" cy="708227"/>
          </a:xfrm>
        </p:spPr>
        <p:txBody>
          <a:bodyPr/>
          <a:lstStyle/>
          <a:p>
            <a:r>
              <a:rPr lang="en-IN" b="1" dirty="0"/>
              <a:t>Final Model Selected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A325A-21D9-37DD-17A6-9422E9315AD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5583" y="1445342"/>
            <a:ext cx="9382590" cy="4698864"/>
          </a:xfrm>
        </p:spPr>
        <p:txBody>
          <a:bodyPr>
            <a:normAutofit/>
          </a:bodyPr>
          <a:lstStyle/>
          <a:p>
            <a:r>
              <a:rPr lang="en-US" sz="1800" dirty="0"/>
              <a:t>Model Chosen: Logistic Regression</a:t>
            </a:r>
          </a:p>
          <a:p>
            <a:r>
              <a:rPr lang="en-US" sz="1800" dirty="0"/>
              <a:t>Test Accuracy	: 100%</a:t>
            </a:r>
          </a:p>
          <a:p>
            <a:r>
              <a:rPr lang="en-US" sz="1800" dirty="0"/>
              <a:t>Cross-Validation Accuracy: 99.60%</a:t>
            </a:r>
          </a:p>
          <a:p>
            <a:r>
              <a:rPr lang="en-US" sz="1800" dirty="0"/>
              <a:t>Precision: 1.00</a:t>
            </a:r>
          </a:p>
          <a:p>
            <a:r>
              <a:rPr lang="en-US" sz="1800" dirty="0"/>
              <a:t>Recall	: 1.00</a:t>
            </a:r>
          </a:p>
          <a:p>
            <a:r>
              <a:rPr lang="en-US" sz="1800" dirty="0"/>
              <a:t>F1-Score: 1.00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A4194-5FFB-BB03-7B42-1D29443E31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949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847A9-FA91-F68E-03E0-C7C33EF74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9382590" cy="708227"/>
          </a:xfrm>
        </p:spPr>
        <p:txBody>
          <a:bodyPr/>
          <a:lstStyle/>
          <a:p>
            <a:r>
              <a:rPr lang="en-IN" b="1" dirty="0"/>
              <a:t>Summary of Model Evolution: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E0AF4-C35C-29F3-FD9B-81B9E207BA0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5583" y="1445342"/>
            <a:ext cx="9382590" cy="1406013"/>
          </a:xfrm>
        </p:spPr>
        <p:txBody>
          <a:bodyPr>
            <a:normAutofit/>
          </a:bodyPr>
          <a:lstStyle/>
          <a:p>
            <a:r>
              <a:rPr lang="en-US" sz="1800" dirty="0"/>
              <a:t>Started with multiple ML models.</a:t>
            </a:r>
          </a:p>
          <a:p>
            <a:r>
              <a:rPr lang="en-US" sz="1800" dirty="0"/>
              <a:t>Compared both performance and interpretability.</a:t>
            </a:r>
          </a:p>
          <a:p>
            <a:r>
              <a:rPr lang="en-US" sz="1800" dirty="0"/>
              <a:t>Chose Logistic Regression for its simplicity, accuracy, and explainability.</a:t>
            </a: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AADB7-E260-2849-AFEE-B4E07B3D39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12302D-C8E5-8F41-556F-8F525C3BA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562" y="2939844"/>
            <a:ext cx="7855974" cy="318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37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04C46-A1AF-754A-577A-78B9E824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9382590" cy="550911"/>
          </a:xfrm>
        </p:spPr>
        <p:txBody>
          <a:bodyPr>
            <a:noAutofit/>
          </a:bodyPr>
          <a:lstStyle/>
          <a:p>
            <a:r>
              <a:rPr lang="en-IN" b="1" dirty="0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F685A-40BB-6E2D-5537-FA9A85A90BB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5583" y="2278626"/>
            <a:ext cx="9382590" cy="2300748"/>
          </a:xfrm>
        </p:spPr>
        <p:txBody>
          <a:bodyPr>
            <a:normAutofit/>
          </a:bodyPr>
          <a:lstStyle/>
          <a:p>
            <a:r>
              <a:rPr lang="en-US" dirty="0"/>
              <a:t>Goal: Make the model accessible to end-users (business analysts, financial officers, etc.)</a:t>
            </a:r>
          </a:p>
          <a:p>
            <a:r>
              <a:rPr lang="en-US" dirty="0"/>
              <a:t>Real-world Use: Predict bankruptcy risk instantly using a web interface</a:t>
            </a:r>
          </a:p>
          <a:p>
            <a:r>
              <a:rPr lang="en-US" dirty="0"/>
              <a:t>No technical expertise needed for users.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42F15-B064-1A9B-0222-E55173599A3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051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989B-A68A-ADB1-A202-B144E8AD5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6"/>
            <a:ext cx="9382590" cy="826213"/>
          </a:xfrm>
        </p:spPr>
        <p:txBody>
          <a:bodyPr>
            <a:normAutofit/>
          </a:bodyPr>
          <a:lstStyle/>
          <a:p>
            <a:r>
              <a:rPr lang="en-IN" b="1" dirty="0"/>
              <a:t>Deployment Approach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64AD3-CBCB-1203-00F9-846999A93F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EFA9171-DA48-3D38-FB48-6DC0DAF8405B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121603105"/>
              </p:ext>
            </p:extLst>
          </p:nvPr>
        </p:nvGraphicFramePr>
        <p:xfrm>
          <a:off x="2173493" y="2271815"/>
          <a:ext cx="8128000" cy="212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2037432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14834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775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Model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Offline using Jupyter Notebook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2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Model Saving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Saved as .pkl files using joblib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873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App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Web app built using Streamlit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02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App 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Runs locally or can be deployed on the cloud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385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262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D3865-958E-644C-E31F-88F79933C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6"/>
            <a:ext cx="9382590" cy="796716"/>
          </a:xfrm>
        </p:spPr>
        <p:txBody>
          <a:bodyPr/>
          <a:lstStyle/>
          <a:p>
            <a:r>
              <a:rPr lang="en-US" b="1" dirty="0"/>
              <a:t>Files Used in Deployment</a:t>
            </a:r>
            <a:endParaRPr lang="en-IN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DFD7C49-E72C-7657-6D48-8FA77C4DE15C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844483359"/>
              </p:ext>
            </p:extLst>
          </p:nvPr>
        </p:nvGraphicFramePr>
        <p:xfrm>
          <a:off x="1953751" y="2191774"/>
          <a:ext cx="7908003" cy="1767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1695">
                  <a:extLst>
                    <a:ext uri="{9D8B030D-6E8A-4147-A177-3AD203B41FA5}">
                      <a16:colId xmlns:a16="http://schemas.microsoft.com/office/drawing/2014/main" val="1226343591"/>
                    </a:ext>
                  </a:extLst>
                </a:gridCol>
                <a:gridCol w="4106308">
                  <a:extLst>
                    <a:ext uri="{9D8B030D-6E8A-4147-A177-3AD203B41FA5}">
                      <a16:colId xmlns:a16="http://schemas.microsoft.com/office/drawing/2014/main" val="1616209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File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972305"/>
                  </a:ext>
                </a:extLst>
              </a:tr>
              <a:tr h="524715">
                <a:tc>
                  <a:txBody>
                    <a:bodyPr/>
                    <a:lstStyle/>
                    <a:p>
                      <a:r>
                        <a:rPr lang="en-IN" b="1" dirty="0"/>
                        <a:t>logistic_bankruptcy_model.pkl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Trained Logistic Regression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627002"/>
                  </a:ext>
                </a:extLst>
              </a:tr>
              <a:tr h="501445">
                <a:tc>
                  <a:txBody>
                    <a:bodyPr/>
                    <a:lstStyle/>
                    <a:p>
                      <a:r>
                        <a:rPr lang="en-IN" b="1" dirty="0"/>
                        <a:t>scaler_bankruptcy.pkl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Scaler to normalize new user inputs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4604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App.py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Web application file (Streamlit)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8622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325E4-1F52-62A3-992B-AA7E1BD3C03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229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2078F-FAF4-DEC8-2D66-020CD3FEF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2" y="737116"/>
            <a:ext cx="8543823" cy="806550"/>
          </a:xfrm>
        </p:spPr>
        <p:txBody>
          <a:bodyPr>
            <a:normAutofit/>
          </a:bodyPr>
          <a:lstStyle/>
          <a:p>
            <a:r>
              <a:rPr lang="en-US" b="1" dirty="0"/>
              <a:t>Deployment Architecture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B6CD5-E88B-8C6E-F17B-84A5562067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5582" y="1543666"/>
            <a:ext cx="9382591" cy="46005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800" dirty="0"/>
              <a:t>1️⃣ User Inputs Financial Data</a:t>
            </a:r>
          </a:p>
          <a:p>
            <a:pPr marL="0" indent="0" algn="ctr">
              <a:buNone/>
            </a:pPr>
            <a:r>
              <a:rPr lang="en-IN" sz="1800" dirty="0"/>
              <a:t>↓</a:t>
            </a:r>
          </a:p>
          <a:p>
            <a:pPr marL="0" indent="0" algn="ctr">
              <a:buNone/>
            </a:pPr>
            <a:r>
              <a:rPr lang="en-IN" sz="1800" dirty="0"/>
              <a:t>2️⃣ Scaler Normalizes Inputs  </a:t>
            </a:r>
          </a:p>
          <a:p>
            <a:pPr marL="0" indent="0" algn="ctr">
              <a:buNone/>
            </a:pPr>
            <a:r>
              <a:rPr lang="en-IN" sz="1800" dirty="0"/>
              <a:t>↓</a:t>
            </a:r>
          </a:p>
          <a:p>
            <a:pPr marL="0" indent="0" algn="ctr">
              <a:buNone/>
            </a:pPr>
            <a:r>
              <a:rPr lang="en-IN" sz="1800" dirty="0"/>
              <a:t>3️⃣ Logistic Regression Model Predicts Bankruptcy Risk</a:t>
            </a:r>
          </a:p>
          <a:p>
            <a:pPr marL="0" indent="0" algn="ctr">
              <a:buNone/>
            </a:pPr>
            <a:r>
              <a:rPr lang="en-IN" sz="1800" dirty="0"/>
              <a:t>↓</a:t>
            </a:r>
          </a:p>
          <a:p>
            <a:pPr marL="0" indent="0" algn="ctr">
              <a:buNone/>
            </a:pPr>
            <a:r>
              <a:rPr lang="en-IN" sz="1800" dirty="0"/>
              <a:t>4️⃣ Results Displayed on Web App (Streamlit GUI)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ED95B-F28F-4755-05CC-53BBC6E5A8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866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29A0A-485A-2B32-50BD-4B07F11C9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6"/>
            <a:ext cx="9382590" cy="993362"/>
          </a:xfrm>
        </p:spPr>
        <p:txBody>
          <a:bodyPr>
            <a:normAutofit/>
          </a:bodyPr>
          <a:lstStyle/>
          <a:p>
            <a:r>
              <a:rPr lang="en-US" b="1" dirty="0"/>
              <a:t>Features of the Web App</a:t>
            </a:r>
            <a:endParaRPr lang="en-IN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0667283-EF75-98E0-5943-C42CE94CFED6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43403505"/>
              </p:ext>
            </p:extLst>
          </p:nvPr>
        </p:nvGraphicFramePr>
        <p:xfrm>
          <a:off x="2671505" y="2501900"/>
          <a:ext cx="6580650" cy="212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90325">
                  <a:extLst>
                    <a:ext uri="{9D8B030D-6E8A-4147-A177-3AD203B41FA5}">
                      <a16:colId xmlns:a16="http://schemas.microsoft.com/office/drawing/2014/main" val="32256056"/>
                    </a:ext>
                  </a:extLst>
                </a:gridCol>
                <a:gridCol w="3290325">
                  <a:extLst>
                    <a:ext uri="{9D8B030D-6E8A-4147-A177-3AD203B41FA5}">
                      <a16:colId xmlns:a16="http://schemas.microsoft.com/office/drawing/2014/main" val="3127437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455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User-friendly Sliders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Easy input of financial factors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058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Real-time Predictions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Instant risk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124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Risk Meter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Helps interpret risk level clearly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493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Download Report 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Generates a CSV of results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26669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B3609-9DAB-A529-305B-DC8F847410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577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902D82F-9FB6-BFAB-D254-BAFA95919FCE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887794" y="609599"/>
            <a:ext cx="9134167" cy="533400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C6320-EA70-686F-0D80-3DCAF417123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936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98B3A0-0802-FA7A-8320-A4AC42067ABB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868129" y="943897"/>
            <a:ext cx="9202993" cy="499970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5E316-DA9D-5E74-03C1-D67CD768EBC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663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DB7358-0BCB-4DEB-B717-C1D7CC555F05}">
  <ds:schemaRefs>
    <ds:schemaRef ds:uri="http://purl.org/dc/elements/1.1/"/>
    <ds:schemaRef ds:uri="http://www.w3.org/XML/1998/namespace"/>
    <ds:schemaRef ds:uri="230e9df3-be65-4c73-a93b-d1236ebd677e"/>
    <ds:schemaRef ds:uri="http://purl.org/dc/terms/"/>
    <ds:schemaRef ds:uri="http://schemas.microsoft.com/office/2006/documentManagement/types"/>
    <ds:schemaRef ds:uri="71af3243-3dd4-4a8d-8c0d-dd76da1f02a5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16c05727-aa75-4e4a-9b5f-8a80a1165891"/>
    <ds:schemaRef ds:uri="http://schemas.microsoft.com/sharepoint/v3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 conference presentation</Template>
  <TotalTime>379</TotalTime>
  <Words>1307</Words>
  <Application>Microsoft Office PowerPoint</Application>
  <PresentationFormat>Widescreen</PresentationFormat>
  <Paragraphs>250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Custom</vt:lpstr>
      <vt:lpstr>Bankruptcy Prevention</vt:lpstr>
      <vt:lpstr>Mentor Name  Sravani</vt:lpstr>
      <vt:lpstr>Agenda</vt:lpstr>
      <vt:lpstr>Objective</vt:lpstr>
      <vt:lpstr>Dataset Details</vt:lpstr>
      <vt:lpstr>Exploratory Data Analysis (EDA)</vt:lpstr>
      <vt:lpstr>PowerPoint Presentation</vt:lpstr>
      <vt:lpstr>Feature Distribution by Class (Box Plot Analysis)</vt:lpstr>
      <vt:lpstr>PowerPoint Presentation</vt:lpstr>
      <vt:lpstr>Correlation Heatmap </vt:lpstr>
      <vt:lpstr>Model Building</vt:lpstr>
      <vt:lpstr>SVM Model</vt:lpstr>
      <vt:lpstr>Random Forest</vt:lpstr>
      <vt:lpstr>XGBoost</vt:lpstr>
      <vt:lpstr>Model Evolution Journey</vt:lpstr>
      <vt:lpstr>Performance Comparison</vt:lpstr>
      <vt:lpstr>Why Finalize Logistic Regression?</vt:lpstr>
      <vt:lpstr>Final Model Selected</vt:lpstr>
      <vt:lpstr>Summary of Model Evolution:</vt:lpstr>
      <vt:lpstr>Deployment</vt:lpstr>
      <vt:lpstr>Deployment Approach</vt:lpstr>
      <vt:lpstr>Files Used in Deployment</vt:lpstr>
      <vt:lpstr>Deployment Architecture</vt:lpstr>
      <vt:lpstr>Features of the Web App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srinivasu murali kantamneni</dc:creator>
  <cp:lastModifiedBy>srinivasu murali kantamneni</cp:lastModifiedBy>
  <cp:revision>8</cp:revision>
  <dcterms:created xsi:type="dcterms:W3CDTF">2025-07-22T09:38:03Z</dcterms:created>
  <dcterms:modified xsi:type="dcterms:W3CDTF">2025-07-23T09:29:55Z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